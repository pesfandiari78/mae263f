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Pif6nmBwB6j50JRn6kYC5t6py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14a4a1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14a4a1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85292ba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85292b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85292ba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85292ba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85292bae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85292b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85292bae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85292ba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f85292bae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f85292ba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85292ba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f85292ba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f85292bae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f85292b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f85292bae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f85292ba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f85292bae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f85292ba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f85292bae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f85292ba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f85292bae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f85292ba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hyperlink" Target="http://drive.google.com/file/d/1-25M4mOYKU0zn6tc9XPlIhY6z3BoUcXn/view" TargetMode="External"/><Relationship Id="rId6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14a4a1d3_0_0"/>
          <p:cNvSpPr txBox="1"/>
          <p:nvPr>
            <p:ph type="ctrTitle"/>
          </p:nvPr>
        </p:nvSpPr>
        <p:spPr>
          <a:xfrm>
            <a:off x="415600" y="2662044"/>
            <a:ext cx="11360700" cy="1056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Dynamics of a Bio-Inspired Tail Modeled as an Elastic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Beam Across Media, Loadings, and Material Properties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g3a914a4a1d3_0_0"/>
          <p:cNvSpPr txBox="1"/>
          <p:nvPr>
            <p:ph idx="1" type="subTitle"/>
          </p:nvPr>
        </p:nvSpPr>
        <p:spPr>
          <a:xfrm>
            <a:off x="415600" y="4005471"/>
            <a:ext cx="11360700" cy="105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Marwan Fayed, Parsa Esfandiari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" name="Google Shape;86;g3a914a4a1d3_0_0"/>
          <p:cNvCxnSpPr/>
          <p:nvPr/>
        </p:nvCxnSpPr>
        <p:spPr>
          <a:xfrm>
            <a:off x="313567" y="3832712"/>
            <a:ext cx="11684700" cy="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g3a914a4a1d3_0_0"/>
          <p:cNvSpPr txBox="1"/>
          <p:nvPr/>
        </p:nvSpPr>
        <p:spPr>
          <a:xfrm>
            <a:off x="3451650" y="4691675"/>
            <a:ext cx="52887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263F-Final Presentation</a:t>
            </a:r>
            <a:endParaRPr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12/10/2025</a:t>
            </a:r>
            <a:endParaRPr sz="2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g3a914a4a1d3_0_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567" y="294905"/>
            <a:ext cx="2656496" cy="51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6003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8200" y="181324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228600" rtl="0" algn="l">
              <a:spcBef>
                <a:spcPts val="10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Many biological swimmers (fish, eels, spermatozoa) generate thrust by propagating curvature waves along slender tails.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10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At low Reynolds numbers, viscous forces dominate, and tail waveform strongly controls propulsion.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10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Robotic systems imitate these strategies using compliant tails for agility and disturbance rejection.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1000"/>
              </a:spcBef>
              <a:spcAft>
                <a:spcPts val="0"/>
              </a:spcAft>
              <a:buSzPts val="32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We need mechanics-grounded simulation tools linking elasticity, actuation, and viscous drag.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 title="Screenshot 2025-11-03 1020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7055" y="4684113"/>
            <a:ext cx="2267325" cy="178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 title="Screenshot 2025-11-03 103910.png"/>
          <p:cNvPicPr preferRelativeResize="0"/>
          <p:nvPr/>
        </p:nvPicPr>
        <p:blipFill rotWithShape="1">
          <a:blip r:embed="rId5">
            <a:alphaModFix/>
          </a:blip>
          <a:srcRect b="59695" l="0" r="0" t="0"/>
          <a:stretch/>
        </p:blipFill>
        <p:spPr>
          <a:xfrm>
            <a:off x="5518880" y="4659342"/>
            <a:ext cx="3284519" cy="17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f85292bae_0_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Background &amp; Modeling Foundations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af85292bae_0_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Elastic rod models capture stretching, bending, and torsion of slender structures.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McMillen &amp; Holmes: elastic-rod theory for anguilliform swimming.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Saab et al.: benefits of compliant robotic tails, need for unified simulators.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Wang et al.: base-actuated robotic fish as modeling benchmark.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→ A gap remains: systematic mechanics-based exploration of tail actuation, stiffness, and fluid interactions.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g3af85292bae_0_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af85292bae_0_2" title="Screenshot 2025-11-03 103910.png"/>
          <p:cNvPicPr preferRelativeResize="0"/>
          <p:nvPr/>
        </p:nvPicPr>
        <p:blipFill rotWithShape="1">
          <a:blip r:embed="rId4">
            <a:alphaModFix/>
          </a:blip>
          <a:srcRect b="59695" l="0" r="0" t="0"/>
          <a:stretch/>
        </p:blipFill>
        <p:spPr>
          <a:xfrm>
            <a:off x="6624475" y="4118976"/>
            <a:ext cx="4539476" cy="24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f85292bae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Discrete Elastic Rod (DER) Tail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af85292bae_0_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9-node 2D discrete elastic rod.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Stretching + bending energies with analytic gradients &amp; Hessians.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Natural curvature actuation (traveling wave along the tail).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Heterogeneous bending stiffness (stiffer head → more stable kinematics).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Anisotropic viscous drag (normal drag &gt; tangential drag).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g3af85292bae_0_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af85292bae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9363" y="3914763"/>
            <a:ext cx="385762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af85292bae_0_12" title="Copy of video_2025-12-10_21-13-15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9300" y="3689950"/>
            <a:ext cx="4760450" cy="30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85292bae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Time Integration &amp; Solver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af85292bae_0_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Fully implicit Backward Euler used for all sweeps.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Newmark-β implemented as cross-check.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Newton–Raphson solution each timestep with full Jacobian.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Both integrators show: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❖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high stability under large curvature,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❖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nearly identical COM trajectories.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g3af85292bae_0_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af85292bae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9825" y="2602213"/>
            <a:ext cx="4895850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f85292bae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Baseline Tail Kinematics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af85292bae_0_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0350" lvl="0" marL="457200" rtl="0" algn="l">
              <a:spcBef>
                <a:spcPts val="1000"/>
              </a:spcBef>
              <a:spcAft>
                <a:spcPts val="0"/>
              </a:spcAft>
              <a:buSzPts val="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Curvature wave produces smooth bending from head → tip.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Stiffer head reduces excessive bending and yaw.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COM drifts steadily with small lateral excursions.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Nodal motion matches expected amplitude envelope.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af85292ba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100" y="3380975"/>
            <a:ext cx="42862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af85292bae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1675" y="3439058"/>
            <a:ext cx="42862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af85292bae_0_30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85292bae_0_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Multi-Parameter Sweep (192 Cases)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af85292bae_0_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We varied:</a:t>
            </a: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Stiffness: E_factor=0.7,1.0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Radius / geometry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Density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Viscosity scaling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Medium: water vs glycerol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Curvature amplitude: 0.8, 1.2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Frequency: 1.0, 1.5, 2.0 Hz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Simulation details:</a:t>
            </a: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Duration: 0.5 s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Time step: 10−4 s</a:t>
            </a:r>
            <a:b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3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74"/>
              <a:buFont typeface="Times New Roman"/>
              <a:buChar char="●"/>
            </a:pPr>
            <a:r>
              <a:rPr lang="en-US" sz="1174">
                <a:latin typeface="Times New Roman"/>
                <a:ea typeface="Times New Roman"/>
                <a:cs typeface="Times New Roman"/>
                <a:sym typeface="Times New Roman"/>
              </a:rPr>
              <a:t>Recorded: deltax_net​, y_max, COM traces</a:t>
            </a:r>
            <a:endParaRPr sz="117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g3af85292bae_0_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85292bae_0_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Effect of Stiffness on Propulsion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3af85292bae_0_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Net displacement is almost unchanged when stiffness varies 0.7 → 1.0.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Only minor differences in both water and glycerol.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Conclusion: stiffness is a weak control parameter within moderate ranges.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g3af85292bae_0_4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af85292bae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9089" y="3038263"/>
            <a:ext cx="45434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af85292bae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0464" y="3038263"/>
            <a:ext cx="489585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f85292bae_0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Effect of Curvature Amplitude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af85292bae_0_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Net displacement increases nearly linearly with κ_amp.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Increasing κ_amp from 0.8 → 1.2 produces ~50–60% larger displacement in glycerol.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Same trend holds in water but with much smaller magnitude.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g3af85292bae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963" y="3248025"/>
            <a:ext cx="425767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af85292bae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1625" y="3067050"/>
            <a:ext cx="48958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af85292bae_0_58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f85292bae_0_6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Effect of Frequency &amp; Fluid Medium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af85292bae_0_6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Displacement magnitude increases almost linearly with actuation frequency.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Medium has huge effect: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Water: Δx ≈ 10^-5 m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Glycerol: Δx ≈ 10^-2 m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→ Three orders of magnitude difference due to higher viscous coupling.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g3af85292bae_0_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af85292bae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6922" y="1276572"/>
            <a:ext cx="3558700" cy="27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af85292bae_0_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6922" y="4024572"/>
            <a:ext cx="3663155" cy="279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85292bae_0_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g3af85292bae_0_7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Strongest propulsion drivers: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❖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Curvature amplitude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❖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Moderate stiffness variations → minimal effect.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Medium viscosity → dominant scaling factor (glycerol ~1000× water).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Implicit Euler = accurate &amp; efficient for large sweeps.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Framework enables systematic design exploration for soft-robotic tails.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g3af85292bae_0_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f85292bae_0_8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af85292bae_0_8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Add Resistive Force Theory or slender-body hydrodynamics.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Extend to 3D rods including torsion.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Simulate cross-media transitions (water ↔ gel ↔ air).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Enable inverse design of stiffness gradients and actuation patterns.</a:t>
            </a:r>
            <a:b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Complete energy analysis pipeline for efficiency metrics.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g3af85292bae_0_8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f85292bae_0_94"/>
          <p:cNvSpPr txBox="1"/>
          <p:nvPr>
            <p:ph type="title"/>
          </p:nvPr>
        </p:nvSpPr>
        <p:spPr>
          <a:xfrm>
            <a:off x="1005925" y="22660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4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g3af85292bae_0_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75" y="221179"/>
            <a:ext cx="1992373" cy="3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2025-11-24T00:04:50Z</dcterms:created>
  <dc:creator>Marwan Fayed</dc:creator>
</cp:coreProperties>
</file>